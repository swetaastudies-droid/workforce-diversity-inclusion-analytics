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67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layout/>
    </c:title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Percent val="1"/>
            <c:showLeaderLines val="1"/>
          </c:dLbls>
          <c:cat>
            <c:strRef>
              <c:f>Sheet1!$A$2:$A$5</c:f>
              <c:strCache>
                <c:ptCount val="4"/>
                <c:pt idx="0">
                  <c:v>Female</c:v>
                </c:pt>
                <c:pt idx="1">
                  <c:v>Male</c:v>
                </c:pt>
                <c:pt idx="2">
                  <c:v>Non-Binary</c:v>
                </c:pt>
                <c:pt idx="3">
                  <c:v>Prefer Not to Say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94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</c:ser>
        <c:dLbls>
          <c:showPercent val="1"/>
        </c:dLbls>
        <c:firstSliceAng val="0"/>
        <c:holeSize val="50"/>
      </c:doughnutChart>
    </c:plotArea>
    <c:legend>
      <c:legendPos val="b"/>
      <c:layout/>
    </c:legend>
    <c:plotVisOnly val="1"/>
    <c:dispBlanksAs val="zero"/>
  </c:chart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 sz="1300">
                <a:solidFill>
                  <a:srgbClr val="122036"/>
                </a:solidFill>
                <a:latin typeface="Aptos Display"/>
              </a:defRPr>
            </a:pPr>
            <a:r>
              <a:rPr lang="en-US"/>
              <a:t>Age Group Distribution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&lt;25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84</c:v>
                </c:pt>
                <c:pt idx="2">
                  <c:v>63</c:v>
                </c:pt>
                <c:pt idx="3">
                  <c:v>13</c:v>
                </c:pt>
                <c:pt idx="4">
                  <c:v>2</c:v>
                </c:pt>
              </c:numCache>
            </c:numRef>
          </c:val>
        </c:ser>
        <c:dLbls>
          <c:showVal val="1"/>
        </c:dLbls>
        <c:axId val="164633600"/>
        <c:axId val="164639488"/>
      </c:barChart>
      <c:catAx>
        <c:axId val="164633600"/>
        <c:scaling>
          <c:orientation val="minMax"/>
        </c:scaling>
        <c:axPos val="b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64639488"/>
        <c:crosses val="autoZero"/>
        <c:auto val="1"/>
        <c:lblAlgn val="ctr"/>
        <c:lblOffset val="100"/>
      </c:catAx>
      <c:valAx>
        <c:axId val="164639488"/>
        <c:scaling>
          <c:orientation val="minMax"/>
        </c:scaling>
        <c:axPos val="l"/>
        <c:numFmt formatCode="General" sourceLinked="1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64633600"/>
        <c:crosses val="autoZero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 sz="1300">
                <a:solidFill>
                  <a:srgbClr val="122036"/>
                </a:solidFill>
                <a:latin typeface="Aptos Display"/>
              </a:defRPr>
            </a:pPr>
            <a:r>
              <a:rPr lang="en-US"/>
              <a:t>Promotion Events — Last 3 Years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Female</c:v>
                </c:pt>
                <c:pt idx="1">
                  <c:v>Male</c:v>
                </c:pt>
                <c:pt idx="2">
                  <c:v>Non-Binary</c:v>
                </c:pt>
                <c:pt idx="3">
                  <c:v>Prefer Not to Say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48</c:v>
                </c:pt>
                <c:pt idx="2">
                  <c:v>0</c:v>
                </c:pt>
                <c:pt idx="3">
                  <c:v>7</c:v>
                </c:pt>
              </c:numCache>
            </c:numRef>
          </c:val>
        </c:ser>
        <c:dLbls>
          <c:showVal val="1"/>
        </c:dLbls>
        <c:axId val="162770304"/>
        <c:axId val="159188096"/>
      </c:barChart>
      <c:catAx>
        <c:axId val="162770304"/>
        <c:scaling>
          <c:orientation val="minMax"/>
        </c:scaling>
        <c:axPos val="l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59188096"/>
        <c:crosses val="autoZero"/>
        <c:auto val="1"/>
        <c:lblAlgn val="ctr"/>
        <c:lblOffset val="100"/>
      </c:catAx>
      <c:valAx>
        <c:axId val="159188096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62770304"/>
        <c:crosses val="autoZero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 sz="1300">
                <a:solidFill>
                  <a:srgbClr val="122036"/>
                </a:solidFill>
                <a:latin typeface="Aptos Display"/>
              </a:defRPr>
            </a:pPr>
            <a:r>
              <a:rPr lang="en-US"/>
              <a:t>Pay Equity Ratio by Department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Customer Service</c:v>
                </c:pt>
                <c:pt idx="1">
                  <c:v>Finance</c:v>
                </c:pt>
                <c:pt idx="2">
                  <c:v>HR</c:v>
                </c:pt>
                <c:pt idx="3">
                  <c:v>IT</c:v>
                </c:pt>
                <c:pt idx="4">
                  <c:v>Marketing</c:v>
                </c:pt>
                <c:pt idx="5">
                  <c:v>Operations</c:v>
                </c:pt>
                <c:pt idx="6">
                  <c:v>R&amp;D</c:v>
                </c:pt>
                <c:pt idx="7">
                  <c:v>Sales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85.85</c:v>
                </c:pt>
                <c:pt idx="1">
                  <c:v>112.14999999999999</c:v>
                </c:pt>
                <c:pt idx="2">
                  <c:v>113.48</c:v>
                </c:pt>
                <c:pt idx="3">
                  <c:v>106.56</c:v>
                </c:pt>
                <c:pt idx="4">
                  <c:v>94.460000000000022</c:v>
                </c:pt>
                <c:pt idx="5">
                  <c:v>81.490000000000023</c:v>
                </c:pt>
                <c:pt idx="6">
                  <c:v>102.21000000000002</c:v>
                </c:pt>
                <c:pt idx="7">
                  <c:v>98.1</c:v>
                </c:pt>
              </c:numCache>
            </c:numRef>
          </c:val>
        </c:ser>
        <c:dLbls>
          <c:showVal val="1"/>
        </c:dLbls>
        <c:axId val="159437952"/>
        <c:axId val="159439488"/>
      </c:barChart>
      <c:catAx>
        <c:axId val="159437952"/>
        <c:scaling>
          <c:orientation val="minMax"/>
        </c:scaling>
        <c:axPos val="l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59439488"/>
        <c:crosses val="autoZero"/>
        <c:auto val="1"/>
        <c:lblAlgn val="ctr"/>
        <c:lblOffset val="100"/>
      </c:catAx>
      <c:valAx>
        <c:axId val="159439488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59437952"/>
        <c:crosses val="autoZero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 sz="1300">
                <a:solidFill>
                  <a:srgbClr val="122036"/>
                </a:solidFill>
                <a:latin typeface="Aptos Display"/>
              </a:defRPr>
            </a:pPr>
            <a:r>
              <a:rPr lang="en-US"/>
              <a:t>Exit Rate by Gender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Female</c:v>
                </c:pt>
                <c:pt idx="1">
                  <c:v>Male</c:v>
                </c:pt>
                <c:pt idx="2">
                  <c:v>Non-Binary</c:v>
                </c:pt>
                <c:pt idx="3">
                  <c:v>Prefer Not to Say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21.279999999999994</c:v>
                </c:pt>
                <c:pt idx="1">
                  <c:v>13.83</c:v>
                </c:pt>
                <c:pt idx="2">
                  <c:v>0</c:v>
                </c:pt>
                <c:pt idx="3">
                  <c:v>12.5</c:v>
                </c:pt>
              </c:numCache>
            </c:numRef>
          </c:val>
        </c:ser>
        <c:dLbls>
          <c:showVal val="1"/>
        </c:dLbls>
        <c:axId val="159550848"/>
        <c:axId val="159552640"/>
      </c:barChart>
      <c:catAx>
        <c:axId val="159550848"/>
        <c:scaling>
          <c:orientation val="minMax"/>
        </c:scaling>
        <c:axPos val="b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59552640"/>
        <c:crosses val="autoZero"/>
        <c:auto val="1"/>
        <c:lblAlgn val="ctr"/>
        <c:lblOffset val="100"/>
      </c:catAx>
      <c:valAx>
        <c:axId val="159552640"/>
        <c:scaling>
          <c:orientation val="minMax"/>
        </c:scaling>
        <c:axPos val="l"/>
        <c:numFmt formatCode="General" sourceLinked="1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59550848"/>
        <c:crosses val="autoZero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 sz="1300">
                <a:solidFill>
                  <a:srgbClr val="122036"/>
                </a:solidFill>
                <a:latin typeface="Aptos Display"/>
              </a:defRPr>
            </a:pPr>
            <a:r>
              <a:rPr lang="en-US"/>
              <a:t>Diversity Scorecard Components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Gender Balance</c:v>
                </c:pt>
                <c:pt idx="1">
                  <c:v>Age Representation</c:v>
                </c:pt>
                <c:pt idx="2">
                  <c:v>Ethnicity Mix</c:v>
                </c:pt>
                <c:pt idx="3">
                  <c:v>Pay Equity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71.88</c:v>
                </c:pt>
                <c:pt idx="3">
                  <c:v>80.8</c:v>
                </c:pt>
              </c:numCache>
            </c:numRef>
          </c:val>
        </c:ser>
        <c:dLbls>
          <c:showVal val="1"/>
        </c:dLbls>
        <c:axId val="159639424"/>
        <c:axId val="159640960"/>
      </c:barChart>
      <c:catAx>
        <c:axId val="159639424"/>
        <c:scaling>
          <c:orientation val="minMax"/>
        </c:scaling>
        <c:axPos val="b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59640960"/>
        <c:crosses val="autoZero"/>
        <c:auto val="1"/>
        <c:lblAlgn val="ctr"/>
        <c:lblOffset val="100"/>
      </c:catAx>
      <c:valAx>
        <c:axId val="159640960"/>
        <c:scaling>
          <c:orientation val="minMax"/>
        </c:scaling>
        <c:axPos val="l"/>
        <c:numFmt formatCode="General" sourceLinked="1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159639424"/>
        <c:crosses val="autoZero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44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4BECD"/>
                </a:solidFill>
                <a:latin typeface="Aptos"/>
              </a:defRPr>
            </a:pPr>
            <a:r>
              <a:t>HR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9326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WORKFORCE DIVERSITY</a:t>
            </a:r>
            <a:br/>
            <a:r>
              <a:t>&amp; INCLUSION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33756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7E1EE"/>
                </a:solidFill>
                <a:latin typeface="Aptos"/>
              </a:defRPr>
            </a:pPr>
            <a:r>
              <a:t>Turning workforce data into measurable inclusion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663440"/>
            <a:ext cx="4754880" cy="960120"/>
          </a:xfrm>
          <a:prstGeom prst="roundRect">
            <a:avLst/>
          </a:prstGeom>
          <a:solidFill>
            <a:srgbClr val="1B2D47"/>
          </a:solidFill>
          <a:ln>
            <a:solidFill>
              <a:srgbClr val="34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86460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4BECD"/>
                </a:solidFill>
                <a:latin typeface="Aptos"/>
              </a:defRPr>
            </a:pPr>
            <a:r>
              <a:t>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38928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K.B. Swetaa  |  BBA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8920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200 synthetic employee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52578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ECCDE"/>
                </a:solidFill>
                <a:latin typeface="Aptos"/>
              </a:defRPr>
            </a:pPr>
            <a:r>
              <a:t>Microsoft Excel  • 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747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64008" cy="1170432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TOTAL 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7335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1"/>
            <a:ext cx="31546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Records analyzed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747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64008" cy="1170432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371600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FEMALE REPRESENTATION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7335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84831"/>
            <a:ext cx="31546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Workforce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234440"/>
            <a:ext cx="34747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234440"/>
            <a:ext cx="64008" cy="1170432"/>
          </a:xfrm>
          <a:prstGeom prst="rect">
            <a:avLst/>
          </a:prstGeom>
          <a:solidFill>
            <a:srgbClr val="2E9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371600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TRAINING PARTICIPATION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67335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84831"/>
            <a:ext cx="31546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194 employees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651760"/>
            <a:ext cx="34747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2651760"/>
            <a:ext cx="64008" cy="1170432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2788920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OVERALL DIVERSITY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09067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88.17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02152"/>
            <a:ext cx="31546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Illustrative scorecard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651760"/>
            <a:ext cx="34747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89120" y="2651760"/>
            <a:ext cx="64008" cy="1170432"/>
          </a:xfrm>
          <a:prstGeom prst="rect">
            <a:avLst/>
          </a:prstGeom>
          <a:solidFill>
            <a:srgbClr val="EB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2788920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EXIT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09067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17%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502152"/>
            <a:ext cx="31546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34 employees exited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2651760"/>
            <a:ext cx="34747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83880" y="2651760"/>
            <a:ext cx="64008" cy="1170432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66760" y="2788920"/>
            <a:ext cx="3154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FEMALE PAY EQUITY RATIO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090672"/>
            <a:ext cx="3154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97.71%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502152"/>
            <a:ext cx="31546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Comparison indicator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3434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2036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70916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83240"/>
                </a:solidFill>
                <a:latin typeface="Aptos"/>
              </a:defRPr>
            </a:pPr>
            <a:r>
              <a:t>• Gender representation is balanced at 47% female and 47% male.</a:t>
            </a:r>
          </a:p>
          <a:p>
            <a:pPr>
              <a:spcAft>
                <a:spcPts val="700"/>
              </a:spcAft>
              <a:defRPr sz="1300">
                <a:solidFill>
                  <a:srgbClr val="283240"/>
                </a:solidFill>
                <a:latin typeface="Aptos"/>
              </a:defRPr>
            </a:pPr>
            <a:r>
              <a:t>• Training participation is high across the analyzed workforce.</a:t>
            </a:r>
          </a:p>
          <a:p>
            <a:pPr>
              <a:spcAft>
                <a:spcPts val="700"/>
              </a:spcAft>
              <a:defRPr sz="1300">
                <a:solidFill>
                  <a:srgbClr val="283240"/>
                </a:solidFill>
                <a:latin typeface="Aptos"/>
              </a:defRPr>
            </a:pPr>
            <a:r>
              <a:t>• Pay-equity and ethnicity mix require further contextual review.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160520"/>
            <a:ext cx="4983480" cy="1645920"/>
          </a:xfrm>
          <a:prstGeom prst="roundRect">
            <a:avLst/>
          </a:prstGeom>
          <a:solidFill>
            <a:srgbClr val="E7F0FA"/>
          </a:solidFill>
          <a:ln>
            <a:solidFill>
              <a:srgbClr val="CDD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4389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668B2"/>
                </a:solidFill>
                <a:latin typeface="Aptos"/>
              </a:defRPr>
            </a:pPr>
            <a:r>
              <a:t>ANALYTICS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8006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22036"/>
                </a:solidFill>
                <a:latin typeface="Aptos"/>
              </a:defRPr>
            </a:pPr>
            <a:r>
              <a:t>DATA  →  KPIs  →  DASHBOARD  →  SCENARIOS  → 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Project Objectives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399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9D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38074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482"/>
                </a:solidFill>
                <a:latin typeface="Aptos"/>
              </a:defRPr>
            </a:pPr>
            <a:r>
              <a:t>Demographic representation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399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9D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38074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76479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482"/>
                </a:solidFill>
                <a:latin typeface="Aptos"/>
              </a:defRPr>
            </a:pPr>
            <a:r>
              <a:t>Promotions, pay equity, training &amp; exits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1399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9D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138074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76479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482"/>
                </a:solidFill>
                <a:latin typeface="Aptos"/>
              </a:defRPr>
            </a:pPr>
            <a:r>
              <a:t>Diversity Index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65176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2816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9D9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79806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18211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482"/>
                </a:solidFill>
                <a:latin typeface="Aptos"/>
              </a:defRPr>
            </a:pPr>
            <a:r>
              <a:t>Workforce interventions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65176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8" y="2816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9D9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279806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18211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97482"/>
                </a:solidFill>
                <a:latin typeface="Aptos"/>
              </a:defRPr>
            </a:pPr>
            <a:r>
              <a:t>HR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97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2036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00600"/>
            <a:ext cx="1417320" cy="64008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9926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2203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4800600"/>
            <a:ext cx="1417320" cy="640080"/>
          </a:xfrm>
          <a:prstGeom prst="roundRect">
            <a:avLst/>
          </a:prstGeom>
          <a:solidFill>
            <a:srgbClr val="E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14600" y="49926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22036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800600"/>
            <a:ext cx="1417320" cy="640080"/>
          </a:xfrm>
          <a:prstGeom prst="roundRect">
            <a:avLst/>
          </a:prstGeom>
          <a:solidFill>
            <a:srgbClr val="EF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49926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22036"/>
                </a:solidFill>
                <a:latin typeface="Aptos"/>
              </a:defRPr>
            </a:pPr>
            <a:r>
              <a:t>KPI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800600"/>
            <a:ext cx="1417320" cy="640080"/>
          </a:xfrm>
          <a:prstGeom prst="roundRect">
            <a:avLst/>
          </a:prstGeom>
          <a:solidFill>
            <a:srgbClr val="F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49926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22036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4800600"/>
            <a:ext cx="1417320" cy="640080"/>
          </a:xfrm>
          <a:prstGeom prst="round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01000" y="49926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22036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9800" y="4800600"/>
            <a:ext cx="1417320" cy="640080"/>
          </a:xfrm>
          <a:prstGeom prst="round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29800" y="49926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22036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97482"/>
                </a:solidFill>
                <a:latin typeface="Aptos"/>
              </a:defRPr>
            </a:pPr>
            <a:r>
              <a:t>Tools: Microsoft Excel • PivotTables • Scenario Manager •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Workforce Demographics — Gender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4663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15000" y="13258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9D9A"/>
                </a:solidFill>
                <a:latin typeface="Aptos"/>
              </a:defRPr>
            </a:pPr>
            <a:r>
              <a:t>GENDER REPRESENTATION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0" y="1874519"/>
          <a:ext cx="5303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Employees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Non-Binary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Prefer Not to Say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715000" y="47091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0" y="4709160"/>
            <a:ext cx="64008" cy="105156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4846320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KEY 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5148072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47% / 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5440680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Female and male representation are equal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Workforce Demographics — Age &amp; Ethnicity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234440"/>
          <a:ext cx="54864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704EAA"/>
                </a:solidFill>
                <a:latin typeface="Aptos"/>
              </a:defRPr>
            </a:pPr>
            <a:r>
              <a:t>ETHNICITY DISTRIBUTION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1783080"/>
          <a:ext cx="50749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Ethnicity</a:t>
                      </a:r>
                    </a:p>
                  </a:txBody>
                  <a:tcPr>
                    <a:solidFill>
                      <a:srgbClr val="704E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Employees</a:t>
                      </a:r>
                    </a:p>
                  </a:txBody>
                  <a:tcPr>
                    <a:solidFill>
                      <a:srgbClr val="704E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704EA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Category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Category B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29.0%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Category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24.0%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Category D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15.0%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Prefer Not to Say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4663440"/>
            <a:ext cx="4983480" cy="914400"/>
          </a:xfrm>
          <a:prstGeom prst="roundRect">
            <a:avLst/>
          </a:prstGeom>
          <a:solidFill>
            <a:srgbClr val="EF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491947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22036"/>
                </a:solidFill>
                <a:latin typeface="Aptos"/>
              </a:defRPr>
            </a:pPr>
            <a:r>
              <a:t>Largest age group: 25–34 (42%)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Inclusion Analysis — Promotions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INCLUSION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234440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325880"/>
          <a:ext cx="5440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360170"/>
                <a:gridCol w="1360170"/>
                <a:gridCol w="136017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2668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Eligible</a:t>
                      </a:r>
                    </a:p>
                  </a:txBody>
                  <a:tcPr>
                    <a:solidFill>
                      <a:srgbClr val="2668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Events</a:t>
                      </a:r>
                    </a:p>
                  </a:txBody>
                  <a:tcPr>
                    <a:solidFill>
                      <a:srgbClr val="2668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Events / Eligible</a:t>
                      </a:r>
                    </a:p>
                  </a:txBody>
                  <a:tcPr>
                    <a:solidFill>
                      <a:srgbClr val="2668B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105.66%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78.69%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Non-Binary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Prefer Not to Say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140%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80760" y="416052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4160520"/>
            <a:ext cx="64008" cy="105156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4297680"/>
            <a:ext cx="4983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TOTAL PROMOTION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599431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892040"/>
            <a:ext cx="4983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Among 122 promotion-eligible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44068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97482"/>
                </a:solidFill>
                <a:latin typeface="Aptos"/>
              </a:defRPr>
            </a:pPr>
            <a:r>
              <a:t>3-year event measure, not a single-cycle promotion selection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Inclusion Analysis — Pay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INCLUSION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4008" cy="155448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371600"/>
            <a:ext cx="2788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FEMALE PAY EQUITY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7335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97.71%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68879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Comparison indicator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54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2036"/>
                </a:solidFill>
                <a:latin typeface="Aptos"/>
              </a:defRPr>
            </a:pPr>
            <a:r>
              <a:t>Department-level ratios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11880" y="1234440"/>
          <a:ext cx="78181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40080" y="3703320"/>
            <a:ext cx="3108960" cy="1645920"/>
          </a:xfrm>
          <a:prstGeom prst="roundRect">
            <a:avLst/>
          </a:prstGeom>
          <a:solidFill>
            <a:srgbClr val="F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2036"/>
                </a:solidFill>
                <a:latin typeface="Aptos"/>
              </a:defRPr>
            </a:pPr>
            <a:r>
              <a:t>Department variation warrants contextual review by job level, role, tenure and experience.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5778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Ratios shown relative to the overall average salary benchmark.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Inclusion Analysis — Training &amp;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INCLUSION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4008" cy="1325880"/>
          </a:xfrm>
          <a:prstGeom prst="rect">
            <a:avLst/>
          </a:prstGeom>
          <a:solidFill>
            <a:srgbClr val="2E9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37160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TRAINING PARTICIPATION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73352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97%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40279"/>
            <a:ext cx="2514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194 employees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64008" cy="1325880"/>
          </a:xfrm>
          <a:prstGeom prst="rect">
            <a:avLst/>
          </a:prstGeom>
          <a:solidFill>
            <a:srgbClr val="EB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926079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OVERALL EXIT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227832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794760"/>
            <a:ext cx="2514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34 employees exited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3886200" y="1143000"/>
          <a:ext cx="7498079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40080" y="4617720"/>
            <a:ext cx="2834640" cy="1051560"/>
          </a:xfrm>
          <a:prstGeom prst="roundRect">
            <a:avLst/>
          </a:prstGeom>
          <a:solidFill>
            <a:srgbClr val="E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80060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22036"/>
                </a:solidFill>
                <a:latin typeface="Aptos"/>
              </a:defRPr>
            </a:pPr>
            <a:r>
              <a:t>Monitor demographic differences alongside tenure, department and job level.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Diversity Index &amp;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234440"/>
          <a:ext cx="6035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86600" y="1417320"/>
            <a:ext cx="4251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86600" y="1417320"/>
            <a:ext cx="64008" cy="1554480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554480"/>
            <a:ext cx="3931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OVERALL DIVERSITY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856232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88.17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651760"/>
            <a:ext cx="3931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Average of four scorecard components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86600" y="3246120"/>
          <a:ext cx="42519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704E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704EA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Gender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Age Representation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100.00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Ethnicity Mix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71.88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Pay Equity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80.80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132320" y="565099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97482"/>
                </a:solidFill>
                <a:latin typeface="Aptos"/>
              </a:defRPr>
            </a:pPr>
            <a:r>
              <a:t>Illustrative educational scoring methodology.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Power BI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109728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  <a:latin typeface="Aptos"/>
              </a:defRPr>
            </a:pPr>
            <a:r>
              <a:t>WORKFORCE DIVERSITY &amp; INCLUSION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19072"/>
            <a:ext cx="1645920" cy="640080"/>
          </a:xfrm>
          <a:prstGeom prst="roundRect">
            <a:avLst/>
          </a:prstGeom>
          <a:solidFill>
            <a:srgbClr val="E7F0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719072"/>
            <a:ext cx="64008" cy="640080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856231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57984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719072"/>
            <a:ext cx="1645920" cy="640080"/>
          </a:xfrm>
          <a:prstGeom prst="roundRect">
            <a:avLst/>
          </a:prstGeom>
          <a:solidFill>
            <a:srgbClr val="E7F0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719072"/>
            <a:ext cx="64008" cy="640080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856231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JOB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157984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1719072"/>
            <a:ext cx="1645920" cy="640080"/>
          </a:xfrm>
          <a:prstGeom prst="roundRect">
            <a:avLst/>
          </a:prstGeom>
          <a:solidFill>
            <a:srgbClr val="E7F0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17720" y="1719072"/>
            <a:ext cx="64008" cy="640080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1856231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GENDER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157984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719072"/>
            <a:ext cx="1645920" cy="640080"/>
          </a:xfrm>
          <a:prstGeom prst="roundRect">
            <a:avLst/>
          </a:prstGeom>
          <a:solidFill>
            <a:srgbClr val="E7F0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1719072"/>
            <a:ext cx="64008" cy="640080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1856231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ETHNICITY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157984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2560320"/>
            <a:ext cx="1874519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" y="2560320"/>
            <a:ext cx="64008" cy="868680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2697479"/>
            <a:ext cx="15544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2999232"/>
            <a:ext cx="1554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2560320"/>
            <a:ext cx="1874519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017520" y="2560320"/>
            <a:ext cx="64008" cy="86868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0" y="2697479"/>
            <a:ext cx="15544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FEMALE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999232"/>
            <a:ext cx="1554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47%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6360" y="2560320"/>
            <a:ext cx="1874519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166360" y="2560320"/>
            <a:ext cx="64008" cy="868680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2697479"/>
            <a:ext cx="15544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DIVERSITY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999232"/>
            <a:ext cx="1554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88.17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2560320"/>
            <a:ext cx="1874519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0" y="2560320"/>
            <a:ext cx="64008" cy="868680"/>
          </a:xfrm>
          <a:prstGeom prst="rect">
            <a:avLst/>
          </a:prstGeom>
          <a:solidFill>
            <a:srgbClr val="2E9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79" y="2697479"/>
            <a:ext cx="15544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PAY EQUITY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2999232"/>
            <a:ext cx="1554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97.71%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64040" y="2560320"/>
            <a:ext cx="1874519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464040" y="2560320"/>
            <a:ext cx="64008" cy="868680"/>
          </a:xfrm>
          <a:prstGeom prst="rect">
            <a:avLst/>
          </a:prstGeom>
          <a:solidFill>
            <a:srgbClr val="EB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46919" y="2697479"/>
            <a:ext cx="15544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PROMOTION EVENTS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19" y="2999232"/>
            <a:ext cx="15544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3657600"/>
            <a:ext cx="2971800" cy="2057400"/>
          </a:xfrm>
          <a:prstGeom prst="roundRect">
            <a:avLst/>
          </a:prstGeom>
          <a:solidFill>
            <a:srgbClr val="FBFCFE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39" y="3767328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2036"/>
                </a:solidFill>
                <a:latin typeface="Aptos"/>
              </a:defRPr>
            </a:pPr>
            <a:r>
              <a:t>Gender Distribution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440" y="5020055"/>
            <a:ext cx="320040" cy="329184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794510" y="4837176"/>
            <a:ext cx="320040" cy="512063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354580" y="5129783"/>
            <a:ext cx="320040" cy="219456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914650" y="4946903"/>
            <a:ext cx="320040" cy="402336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069080" y="3657600"/>
            <a:ext cx="2971800" cy="2057400"/>
          </a:xfrm>
          <a:prstGeom prst="roundRect">
            <a:avLst/>
          </a:prstGeom>
          <a:solidFill>
            <a:srgbClr val="FBFCFE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06240" y="3767328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2036"/>
                </a:solidFill>
                <a:latin typeface="Aptos"/>
              </a:defRPr>
            </a:pPr>
            <a:r>
              <a:t>Age Group Distribution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34840" y="5020055"/>
            <a:ext cx="320040" cy="329184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994910" y="4837176"/>
            <a:ext cx="320040" cy="512063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554980" y="5129783"/>
            <a:ext cx="320040" cy="219456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115050" y="4946903"/>
            <a:ext cx="320040" cy="402336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269480" y="3657600"/>
            <a:ext cx="3657600" cy="2057400"/>
          </a:xfrm>
          <a:prstGeom prst="roundRect">
            <a:avLst/>
          </a:prstGeom>
          <a:solidFill>
            <a:srgbClr val="FBFCFE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406640" y="3767328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2036"/>
                </a:solidFill>
                <a:latin typeface="Aptos"/>
              </a:defRPr>
            </a:pPr>
            <a:r>
              <a:t>Exit Rate by Gender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35240" y="5020055"/>
            <a:ext cx="320040" cy="329184"/>
          </a:xfrm>
          <a:prstGeom prst="rect">
            <a:avLst/>
          </a:prstGeom>
          <a:solidFill>
            <a:srgbClr val="EB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66760" y="4837176"/>
            <a:ext cx="320040" cy="512063"/>
          </a:xfrm>
          <a:prstGeom prst="rect">
            <a:avLst/>
          </a:prstGeom>
          <a:solidFill>
            <a:srgbClr val="EB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098280" y="5129783"/>
            <a:ext cx="320040" cy="219456"/>
          </a:xfrm>
          <a:prstGeom prst="rect">
            <a:avLst/>
          </a:prstGeom>
          <a:solidFill>
            <a:srgbClr val="EB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829800" y="4946903"/>
            <a:ext cx="320040" cy="402336"/>
          </a:xfrm>
          <a:prstGeom prst="rect">
            <a:avLst/>
          </a:prstGeom>
          <a:solidFill>
            <a:srgbClr val="EB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8680" y="596188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97482"/>
                </a:solidFill>
                <a:latin typeface="Aptos"/>
              </a:defRPr>
            </a:pPr>
            <a:r>
              <a:t>Interactive slicers: Department • Job Level • Gender • Ethnicity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Scenario &amp; What-If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239D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239D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Diversity Index</a:t>
                      </a:r>
                    </a:p>
                  </a:txBody>
                  <a:tcPr>
                    <a:solidFill>
                      <a:srgbClr val="239D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 vs Base</a:t>
                      </a:r>
                    </a:p>
                  </a:txBody>
                  <a:tcPr>
                    <a:solidFill>
                      <a:srgbClr val="239D9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Base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Current workforce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88.17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Scenario 1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Female leadership hiring +10%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88.17*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Scenario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Minority training +20%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88.17*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Scenario 3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Pay Equity target = 1.00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92.97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+4.80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1605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160520"/>
            <a:ext cx="64008" cy="1234440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4297680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599431"/>
            <a:ext cx="2926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88.17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074920"/>
            <a:ext cx="2926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Current illustrative 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1605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4160520"/>
            <a:ext cx="64008" cy="1234440"/>
          </a:xfrm>
          <a:prstGeom prst="rect">
            <a:avLst/>
          </a:prstGeom>
          <a:solidFill>
            <a:srgbClr val="2E9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4297680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SCENARIO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599431"/>
            <a:ext cx="2926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92.97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074920"/>
            <a:ext cx="2926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Salary correction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160520"/>
            <a:ext cx="37490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0" y="4160520"/>
            <a:ext cx="64008" cy="1234440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4297680"/>
            <a:ext cx="342899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599431"/>
            <a:ext cx="34289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t>+4.80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074920"/>
            <a:ext cx="34289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97482"/>
                </a:solidFill>
                <a:latin typeface="Aptos"/>
              </a:defRPr>
            </a:pPr>
            <a:r>
              <a:t>Scenario 3 vs Base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5099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97482"/>
                </a:solidFill>
                <a:latin typeface="Aptos"/>
              </a:defRPr>
            </a:pPr>
            <a:r>
              <a:t>* Scenarios 1–2 do not have prescribed formulas for converting adjustments into Diversity Index points, so no unsupported numerical improvement is assigned.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HR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143000"/>
            <a:ext cx="502920" cy="502920"/>
          </a:xfrm>
          <a:prstGeom prst="ellipse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17043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Inclusive Leadership Hiring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16128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482"/>
                </a:solidFill>
                <a:latin typeface="Aptos"/>
              </a:defRPr>
            </a:pPr>
            <a:r>
              <a:t>Monitor gender representation across leadership pipelines and expand diverse sourcing channels.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130552"/>
            <a:ext cx="502920" cy="502920"/>
          </a:xfrm>
          <a:prstGeom prst="ellipse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2494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57984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Compensation Equity 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4884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482"/>
                </a:solidFill>
                <a:latin typeface="Aptos"/>
              </a:defRPr>
            </a:pPr>
            <a:r>
              <a:t>Review department-level salary differences by job level, role and experience.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118104"/>
            <a:ext cx="502920" cy="502920"/>
          </a:xfrm>
          <a:prstGeom prst="ellipse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23697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145536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Learning &amp;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36392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482"/>
                </a:solidFill>
                <a:latin typeface="Aptos"/>
              </a:defRPr>
            </a:pPr>
            <a:r>
              <a:t>Maintain high participation and monitor access to development opportunities.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105656"/>
            <a:ext cx="502920" cy="502920"/>
          </a:xfrm>
          <a:prstGeom prst="ellipse">
            <a:avLst/>
          </a:prstGeom>
          <a:solidFill>
            <a:srgbClr val="EB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224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133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Promotion 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123944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482"/>
                </a:solidFill>
                <a:latin typeface="Aptos"/>
              </a:defRPr>
            </a:pPr>
            <a:r>
              <a:t>Track promotion outcomes and increase transparency around career progression.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093208"/>
            <a:ext cx="502920" cy="502920"/>
          </a:xfrm>
          <a:prstGeom prst="ellipse">
            <a:avLst/>
          </a:prstGeom>
          <a:solidFill>
            <a:srgbClr val="2E9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21208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12064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  <a:latin typeface="Aptos"/>
              </a:defRPr>
            </a:pPr>
            <a:r>
              <a:t>Retention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111496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482"/>
                </a:solidFill>
                <a:latin typeface="Aptos"/>
              </a:defRPr>
            </a:pPr>
            <a:r>
              <a:t>Investigate demographic exit patterns alongside tenure, department and job level.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HR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10881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898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Leadership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Monitor diverse leadership hiring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Female leadership representation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Pay Equity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Periodic compensation equity reviews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Pay Equity Ratio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Promotions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Monitor promotion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Promotion Events /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Track participation by group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Training Participation %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Investigate demographic exits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Exit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Workforce Diversity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Monitor representation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83240"/>
                          </a:solidFill>
                          <a:latin typeface="Aptos"/>
                        </a:defRPr>
                      </a:pPr>
                      <a:r>
                        <a:t>Diversity Index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98348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39D9A"/>
                </a:solidFill>
                <a:latin typeface="Aptos"/>
              </a:defRPr>
            </a:pPr>
            <a:r>
              <a:t>CONTINUOUS HR ANALYTICS 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40680"/>
            <a:ext cx="1691640" cy="594360"/>
          </a:xfrm>
          <a:prstGeom prst="round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22036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1691640" cy="594360"/>
          </a:xfrm>
          <a:prstGeom prst="roundRect">
            <a:avLst/>
          </a:prstGeom>
          <a:solidFill>
            <a:srgbClr val="E5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5623560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22036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5440680"/>
            <a:ext cx="1691640" cy="594360"/>
          </a:xfrm>
          <a:prstGeom prst="roundRect">
            <a:avLst/>
          </a:prstGeom>
          <a:solidFill>
            <a:srgbClr val="EF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5623560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22036"/>
                </a:solidFill>
                <a:latin typeface="Aptos"/>
              </a:defRPr>
            </a:pPr>
            <a:r>
              <a:t>IDENTIFY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5440680"/>
            <a:ext cx="1691640" cy="594360"/>
          </a:xfrm>
          <a:prstGeom prst="roundRect">
            <a:avLst/>
          </a:prstGeom>
          <a:solidFill>
            <a:srgbClr val="F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5623560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22036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5440680"/>
            <a:ext cx="1691640" cy="594360"/>
          </a:xfrm>
          <a:prstGeom prst="round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5623560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22036"/>
                </a:solidFill>
                <a:latin typeface="Aptos"/>
              </a:defRPr>
            </a:pPr>
            <a:r>
              <a:t>MONITOR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4BEC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From workforce data</a:t>
            </a:r>
            <a:br/>
            <a:r>
              <a:t>to informed HR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760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AE3EE"/>
                </a:solidFill>
                <a:latin typeface="Aptos"/>
              </a:defRPr>
            </a:pPr>
            <a:r>
              <a:t>• Gender representation is balanced at 47% female and 47% male.</a:t>
            </a:r>
          </a:p>
          <a:p>
            <a:pPr>
              <a:spcAft>
                <a:spcPts val="700"/>
              </a:spcAft>
              <a:defRPr sz="1500">
                <a:solidFill>
                  <a:srgbClr val="DAE3EE"/>
                </a:solidFill>
                <a:latin typeface="Aptos"/>
              </a:defRPr>
            </a:pPr>
            <a:r>
              <a:t>• Training participation is high at 97%.</a:t>
            </a:r>
          </a:p>
          <a:p>
            <a:pPr>
              <a:spcAft>
                <a:spcPts val="700"/>
              </a:spcAft>
              <a:defRPr sz="1500">
                <a:solidFill>
                  <a:srgbClr val="DAE3EE"/>
                </a:solidFill>
                <a:latin typeface="Aptos"/>
              </a:defRPr>
            </a:pPr>
            <a:r>
              <a:t>• Overall exit rate is 17% in the synthetic dataset.</a:t>
            </a:r>
          </a:p>
          <a:p>
            <a:pPr>
              <a:spcAft>
                <a:spcPts val="700"/>
              </a:spcAft>
              <a:defRPr sz="1500">
                <a:solidFill>
                  <a:srgbClr val="DAE3EE"/>
                </a:solidFill>
                <a:latin typeface="Aptos"/>
              </a:defRPr>
            </a:pPr>
            <a:r>
              <a:t>• The illustrative Diversity Index is 88.17.</a:t>
            </a:r>
          </a:p>
          <a:p>
            <a:pPr>
              <a:spcAft>
                <a:spcPts val="700"/>
              </a:spcAft>
              <a:defRPr sz="1500">
                <a:solidFill>
                  <a:srgbClr val="DAE3EE"/>
                </a:solidFill>
                <a:latin typeface="Aptos"/>
              </a:defRPr>
            </a:pPr>
            <a:r>
              <a:t>• Scenario 3 models a +4.80-point improvement through salary-equity correction.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1920240"/>
            <a:ext cx="4343400" cy="2377440"/>
          </a:xfrm>
          <a:prstGeom prst="roundRect">
            <a:avLst/>
          </a:prstGeom>
          <a:solidFill>
            <a:srgbClr val="1C304B"/>
          </a:solidFill>
          <a:ln>
            <a:solidFill>
              <a:srgbClr val="3A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2331720"/>
            <a:ext cx="3657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“Data-driven HR analytics can support more transparent workforce monitoring, evidence-based review and continuous improvement.”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88620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4BECD"/>
                </a:solidFill>
                <a:latin typeface="Aptos"/>
              </a:defRPr>
            </a:pPr>
            <a:r>
              <a:t>Project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1C2D7"/>
                </a:solidFill>
                <a:latin typeface="Aptos"/>
              </a:defRPr>
            </a:pPr>
            <a:r>
              <a:t>Synthetic / anonymized educational dataset • Observed disparities require contextual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1C2D7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B1C2D7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22036"/>
                </a:solidFill>
                <a:latin typeface="Aptos"/>
              </a:defRPr>
            </a:pPr>
            <a:r>
              <a:t>Tools &amp; 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39D9A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47104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97482"/>
                </a:solidFill>
                <a:latin typeface="Aptos"/>
              </a:defRPr>
            </a:pPr>
            <a:r>
              <a:t>Workforce Diversity &amp; Inclusion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974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3429000" cy="73152"/>
          </a:xfrm>
          <a:prstGeom prst="rect">
            <a:avLst/>
          </a:prstGeom>
          <a:solidFill>
            <a:srgbClr val="2E9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E9C60"/>
                </a:solidFill>
                <a:latin typeface="Aptos"/>
              </a:defRPr>
            </a:pPr>
            <a:r>
              <a:t>MICROSOFT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148840"/>
            <a:ext cx="2788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Data cleaning</a:t>
            </a:r>
          </a:p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PivotTables &amp; KPIs</a:t>
            </a:r>
          </a:p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Diversity Scorecard</a:t>
            </a:r>
          </a:p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Scenario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3429000" cy="73152"/>
          </a:xfrm>
          <a:prstGeom prst="rect">
            <a:avLst/>
          </a:prstGeom>
          <a:solidFill>
            <a:srgbClr val="26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5727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668B2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48840"/>
            <a:ext cx="2788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Interactive dashboard</a:t>
            </a:r>
          </a:p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KPI cards</a:t>
            </a:r>
          </a:p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Charts &amp; slicers</a:t>
            </a:r>
          </a:p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Workforce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234440"/>
            <a:ext cx="3429000" cy="73152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5727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704EAA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48840"/>
            <a:ext cx="2788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Cleaned dataset</a:t>
            </a:r>
          </a:p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Dashboard</a:t>
            </a:r>
          </a:p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Scenario analysis</a:t>
            </a:r>
          </a:p>
          <a:p>
            <a:pPr>
              <a:spcAft>
                <a:spcPts val="700"/>
              </a:spcAft>
              <a:defRPr sz="1300">
                <a:solidFill>
                  <a:srgbClr val="697482"/>
                </a:solidFill>
                <a:latin typeface="Aptos"/>
              </a:defRPr>
            </a:pPr>
            <a:r>
              <a:t>• HR report &amp;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5650992"/>
            <a:ext cx="4617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794760" y="5650992"/>
            <a:ext cx="64008" cy="566928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77640" y="5788152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482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4350" y="6016752"/>
            <a:ext cx="422529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22036"/>
                </a:solidFill>
                <a:latin typeface="Aptos"/>
              </a:defRPr>
            </a:pPr>
            <a:r>
              <a:rPr/>
              <a:t>200 </a:t>
            </a:r>
            <a:r>
              <a:rPr smtClean="0"/>
              <a:t>employee </a:t>
            </a:r>
            <a:r>
              <a:t>records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Project 5 IITD\WF D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Project 5 IITD\WF D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954</Words>
  <Application>Microsoft Macintosh PowerPoint</Application>
  <PresentationFormat>Custom</PresentationFormat>
  <Paragraphs>329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Swe</cp:lastModifiedBy>
  <cp:revision>2</cp:revision>
  <dcterms:created xsi:type="dcterms:W3CDTF">2013-01-27T09:14:16Z</dcterms:created>
  <dcterms:modified xsi:type="dcterms:W3CDTF">2026-09-28T16:19:13Z</dcterms:modified>
  <cp:category/>
</cp:coreProperties>
</file>